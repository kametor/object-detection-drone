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ask was how large video datasets get labeled without labeling every frame by hand. 40+ sources, mostly primary. Every number on the following slides is traceable.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Sections 1-2 define the problem and the solution space, 3 is the core question about misses in video, 4-5 are budget and hardware, 6-7 are quality and the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 to remember if nothing else. Note finding 5 - the quality-audit point is the one most teams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is structural: millions of parameters need thousands of annotated images per class. Bounding-box annotation only recently became an automation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nuance to raise if challenged: automatic is not automatically worse. UEMM-Air found their generated labels beat human ones on small objects because humans draw loose boxes on distant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These four families are not alternatives - production systems stack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A is the oldest, D is where the research energy is. B is the one that breaks in ways people do not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OS-W2S is the most instructive recent example. Note what they refuse to let the VLM do: size and absolute position are rule-generated, because those are subjective.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zero-shot pipeline, prompt design replaces the annotation guideline. These four pitfalls are the reported failure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- this is the heart of the question I was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intervention points. Two and three are the ones worth building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counterweight: eight times the compute reduced lost tracks but lowered IoU. Propagation trades compute for labor, it does not create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table. Same YOLOX detections for every row, so the spread is purely association quality. BoT-SORT leads on three of four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each mechanism actually prevents a miss. Two-stage association is the cheapest win; CMC is the one that matters for aerial and panning footage.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not work is information too. Transformer trackers still do not beat tracking-by-detection on pedestrian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HOTA. MOTA hides identity switches behind good recall, which is exactly the failure mode automatic labeling 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This branch is the most measurable - papers report performance per fraction of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row against its own baseline, not against the others. The pattern: gains are biggest in the lowest-label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figures, clearly marked. Usable as economic motivation for the project, not as an acceptance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Automatic labeling is an inference workload, and inference workloads are won on data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layers. The important claim: keeping data on the GPU from decode through inference is what removes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numbers from four different sources. The 110 to 350 figure is with no model changes at all - purely pipeline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planning you can defend with arithmetic instead of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overlooked section. If you cannot measure label quality, automation produces debt nobody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- explicitly my inference from the sources, not a quotation. Six layers, each backed by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that will get asked, and the three-part answer the literature actually supports.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evidence is thin. The defense-domain gap in the fourth box is the openings for original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list by category. Two Springer items were reachable only at abstract level and are marked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through-line: the win is changing what the human is asked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04938"/>
            <a:ext cx="16192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37048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LITERATURE REVIEW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988230" y="933450"/>
            <a:ext cx="46772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September 2026 · 40+ 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610296"/>
            <a:ext cx="14530104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4358"/>
              </a:lnSpc>
              <a:buNone/>
            </a:pPr>
            <a:r>
              <a:rPr lang="en-US" sz="9900" b="1" spc="-247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From manual labeling to autonomous annotation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047750" y="5493693"/>
            <a:ext cx="8633460" cy="2202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115"/>
              </a:lnSpc>
              <a:buNone/>
            </a:pPr>
            <a:r>
              <a:rPr lang="en-US" sz="3000" dirty="0">
                <a:solidFill>
                  <a:srgbClr val="3B352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How large-scale video datasets get annotated automatically: foundation models, tracker-based propagation, semi-supervised pseudo-labeling, and the GPU infrastructure underneath.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883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053513"/>
            <a:ext cx="343244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Primary-source survey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777755" y="9053513"/>
            <a:ext cx="52304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Vendor claims flagged separately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42265" y="9053513"/>
            <a:ext cx="5393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figure linked to its source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62075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49760" y="3333750"/>
            <a:ext cx="268723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72625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74635" y="3333750"/>
            <a:ext cx="413435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Libraries and GPUs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47750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9760" y="4476750"/>
            <a:ext cx="543675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Four architecture families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72625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4" name="Text 12"/>
          <p:cNvSpPr/>
          <p:nvPr/>
        </p:nvSpPr>
        <p:spPr>
          <a:xfrm>
            <a:off x="9572625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174635" y="4476750"/>
            <a:ext cx="371165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Quality assurance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47750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49760" y="5619750"/>
            <a:ext cx="51306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Misses in video: trackers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572625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0" name="Text 18"/>
          <p:cNvSpPr/>
          <p:nvPr/>
        </p:nvSpPr>
        <p:spPr>
          <a:xfrm>
            <a:off x="9572625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74635" y="5619750"/>
            <a:ext cx="474057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Reference architecture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047750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49760" y="6762750"/>
            <a:ext cx="27222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budget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9572625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6" name="Text 24"/>
          <p:cNvSpPr/>
          <p:nvPr/>
        </p:nvSpPr>
        <p:spPr>
          <a:xfrm>
            <a:off x="9572625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174635" y="6762750"/>
            <a:ext cx="431828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Gaps in the evidence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04938"/>
            <a:ext cx="16192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37048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LITERATURE REVIEW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988230" y="933450"/>
            <a:ext cx="46772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September 2026 · 40+ 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610296"/>
            <a:ext cx="14530104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4358"/>
              </a:lnSpc>
              <a:buNone/>
            </a:pPr>
            <a:r>
              <a:rPr lang="en-US" sz="9900" b="1" spc="-247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From manual labeling to autonomous annotation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047750" y="5493693"/>
            <a:ext cx="8633460" cy="2202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115"/>
              </a:lnSpc>
              <a:buNone/>
            </a:pPr>
            <a:r>
              <a:rPr lang="en-US" sz="3000" dirty="0">
                <a:solidFill>
                  <a:srgbClr val="3B352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How large-scale video datasets get annotated automatically: foundation models, tracker-based propagation, semi-supervised pseudo-labeling, and the GPU infrastructure underneath.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883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053513"/>
            <a:ext cx="343244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Primary-source survey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777755" y="9053513"/>
            <a:ext cx="52304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Vendor claims flagged separately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42265" y="9053513"/>
            <a:ext cx="5393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figure linked to its source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62075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49760" y="3333750"/>
            <a:ext cx="268723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72625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74635" y="3333750"/>
            <a:ext cx="413435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Libraries and GPUs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47750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9760" y="4476750"/>
            <a:ext cx="543675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Four architecture families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72625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4" name="Text 12"/>
          <p:cNvSpPr/>
          <p:nvPr/>
        </p:nvSpPr>
        <p:spPr>
          <a:xfrm>
            <a:off x="9572625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174635" y="4476750"/>
            <a:ext cx="371165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Quality assurance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47750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49760" y="5619750"/>
            <a:ext cx="51306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Misses in video: trackers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572625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0" name="Text 18"/>
          <p:cNvSpPr/>
          <p:nvPr/>
        </p:nvSpPr>
        <p:spPr>
          <a:xfrm>
            <a:off x="9572625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74635" y="5619750"/>
            <a:ext cx="474057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Reference architecture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047750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49760" y="6762750"/>
            <a:ext cx="27222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budget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9572625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6" name="Text 24"/>
          <p:cNvSpPr/>
          <p:nvPr/>
        </p:nvSpPr>
        <p:spPr>
          <a:xfrm>
            <a:off x="9572625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174635" y="6762750"/>
            <a:ext cx="431828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Gaps in the evidence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264247"/>
            <a:ext cx="6868751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38"/>
              </a:lnSpc>
              <a:buNone/>
            </a:pPr>
            <a:r>
              <a:rPr lang="en-US" sz="39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Defense imagery is the hardest case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660106"/>
            <a:ext cx="8585019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UAV detection literature, dependence on high-quality annotation is described as a practical bottleneck: noisy labels and missing instances substantially degrade performance, especially for tiny or fast-moving aerial vehicles.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47750" y="6549033"/>
            <a:ext cx="8585019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Anti-UAV datasets report target sizes down to </a:t>
            </a:r>
            <a:pPr algn="l" indent="0" marL="0">
              <a:lnSpc>
                <a:spcPct val="117547"/>
              </a:lnSpc>
              <a:buNone/>
            </a:pPr>
            <a:r>
              <a:rPr lang="en-US" sz="2175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6×3 pixels </a:t>
            </a:r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smallest being a micro air vehicle captured from 150 metres. At that scale human annotation is itself a source of noise.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92320" y="1547813"/>
            <a:ext cx="7247855" cy="79771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8" name="Text 6"/>
          <p:cNvSpPr/>
          <p:nvPr/>
        </p:nvSpPr>
        <p:spPr>
          <a:xfrm>
            <a:off x="10392370" y="3710880"/>
            <a:ext cx="70925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9A4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COUNTER-FINDING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92370" y="4196655"/>
            <a:ext cx="6641188" cy="193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56"/>
              </a:lnSpc>
              <a:buNone/>
            </a:pPr>
            <a:r>
              <a:rPr lang="en-US" sz="270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 the synthetic UAV dataset UEMM-Air, generated labels were almost identical in position to manual ones — and had an advantage on small objects.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392370" y="6299002"/>
            <a:ext cx="6641188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objects recede, human annotators draw boxes that don't sit tightly on the edges, admitting extra foreground. "Human is the gold standard" is questionable for small targets.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62075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49760" y="3333750"/>
            <a:ext cx="268723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72625" y="4219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3524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74635" y="3333750"/>
            <a:ext cx="413435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Libraries and GPUs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47750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9760" y="4476750"/>
            <a:ext cx="543675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Four architecture families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72625" y="5362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4" name="Text 12"/>
          <p:cNvSpPr/>
          <p:nvPr/>
        </p:nvSpPr>
        <p:spPr>
          <a:xfrm>
            <a:off x="9572625" y="4667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174635" y="4476750"/>
            <a:ext cx="371165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Quality assurance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047750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49760" y="5619750"/>
            <a:ext cx="51306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Misses in video: trackers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572625" y="6505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0" name="Text 18"/>
          <p:cNvSpPr/>
          <p:nvPr/>
        </p:nvSpPr>
        <p:spPr>
          <a:xfrm>
            <a:off x="9572625" y="5810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74635" y="5619750"/>
            <a:ext cx="474057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Reference architecture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047750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49760" y="6762750"/>
            <a:ext cx="27222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budget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9572625" y="7648575"/>
            <a:ext cx="7667625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6" name="Text 24"/>
          <p:cNvSpPr/>
          <p:nvPr/>
        </p:nvSpPr>
        <p:spPr>
          <a:xfrm>
            <a:off x="9572625" y="6953250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174635" y="6762750"/>
            <a:ext cx="431828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Gaps in the evidence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70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solution space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047750" y="1771650"/>
            <a:ext cx="16192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143125"/>
            <a:ext cx="16192500" cy="7381875"/>
          </a:xfrm>
          <a:prstGeom prst="rect">
            <a:avLst/>
          </a:prstGeom>
          <a:solidFill>
            <a:srgbClr val="DDD6C8"/>
          </a:solidFill>
          <a:ln w="9525">
            <a:solidFill>
              <a:srgbClr val="DDD6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6" name="Text 4"/>
          <p:cNvSpPr/>
          <p:nvPr/>
        </p:nvSpPr>
        <p:spPr>
          <a:xfrm>
            <a:off x="1343025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FAMILY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2905125"/>
            <a:ext cx="356866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Model-assisted pre-labeling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43025" y="3928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detector proposes, the annotator corrects. Mask R-CNN inside CVAT on EC2 is the cloud form.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" y="5452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ARGUSTRACK it is a "semi-annotation module": the annotator only reviews, corrects and fills in misses.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3019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1" name="Text 9"/>
          <p:cNvSpPr/>
          <p:nvPr/>
        </p:nvSpPr>
        <p:spPr>
          <a:xfrm>
            <a:off x="5388769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FAMILY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88769" y="2905125"/>
            <a:ext cx="356866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Temporal propagation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5388769" y="3928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the keyframe, let a tracker carry it. Scene-text work initialises one KCF tracker per instance from frame one.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88769" y="5452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Brittle: it assumes no new instances appear and none disappear. Real video violates both.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8763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9434513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FAMILY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34513" y="2905125"/>
            <a:ext cx="356866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Foundation model, zero-shot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9434513" y="3928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Grounding DINO extracts a box from the text descriptor, SAM turns the box into a mask, the input text becomes the label.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34513" y="5452021"/>
            <a:ext cx="35686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 was trained on 11M images and 1.1B masks — it transfers without retraining.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194506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13480256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FAMILY 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480256" y="2905125"/>
            <a:ext cx="356866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Pseudo-labels + active learning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3480256" y="3928021"/>
            <a:ext cx="3568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teacher generates pseudo-labels and is updated from the student via EMA; the student trains on both label types.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480256" y="5452021"/>
            <a:ext cx="35686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 counterpart: recurrent self-annotation on unlabeled footage.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264247"/>
            <a:ext cx="6868751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38"/>
              </a:lnSpc>
              <a:buNone/>
            </a:pPr>
            <a:r>
              <a:rPr lang="en-US" sz="39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Defense imagery is the hardest case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660106"/>
            <a:ext cx="8585019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UAV detection literature, dependence on high-quality annotation is described as a practical bottleneck: noisy labels and missing instances substantially degrade performance, especially for tiny or fast-moving aerial vehicles.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47750" y="6549033"/>
            <a:ext cx="8585019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Anti-UAV datasets report target sizes down to </a:t>
            </a:r>
            <a:pPr algn="l" indent="0" marL="0">
              <a:lnSpc>
                <a:spcPct val="117547"/>
              </a:lnSpc>
              <a:buNone/>
            </a:pPr>
            <a:r>
              <a:rPr lang="en-US" sz="2175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6×3 pixels </a:t>
            </a:r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smallest being a micro air vehicle captured from 150 metres. At that scale human annotation is itself a source of noise.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92320" y="1547813"/>
            <a:ext cx="7247855" cy="79771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8" name="Text 6"/>
          <p:cNvSpPr/>
          <p:nvPr/>
        </p:nvSpPr>
        <p:spPr>
          <a:xfrm>
            <a:off x="10392370" y="3710880"/>
            <a:ext cx="70925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9A4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COUNTER-FINDING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92370" y="4196655"/>
            <a:ext cx="6641188" cy="193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56"/>
              </a:lnSpc>
              <a:buNone/>
            </a:pPr>
            <a:r>
              <a:rPr lang="en-US" sz="270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 the synthetic UAV dataset UEMM-Air, generated labels were almost identical in position to manual ones — and had an advantage on small objects.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392370" y="6299002"/>
            <a:ext cx="6641188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objects recede, human annotators draw boxes that don't sit tightly on the edges, admitting extra foreground. "Human is the gold standard" is questionable for small targets.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38909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50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567559"/>
            <a:ext cx="15586829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053"/>
              </a:lnSpc>
              <a:buNone/>
            </a:pPr>
            <a:r>
              <a:rPr lang="en-US" sz="8850" b="1" spc="-177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Four families of autonomous labeling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047750" y="6298555"/>
            <a:ext cx="9693021" cy="1087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26"/>
              </a:lnSpc>
              <a:buNone/>
            </a:pPr>
            <a:r>
              <a:rPr lang="en-US" sz="2850" dirty="0">
                <a:solidFill>
                  <a:srgbClr val="C4BCA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Not alternatives. Data-centric surveys place them on one spectrum, and production systems stack all four.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FAMILY C TODAY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47813"/>
            <a:ext cx="990686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31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engines: pipelines with their own pre- and post-processing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3109913"/>
            <a:ext cx="8427894" cy="169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OS-W2S engine wraps image-operation preprocessing and BERT-based postprocessing around an open-source VLM. Foreground and instance regions are extracted </a:t>
            </a:r>
            <a:pPr algn="l" indent="0" marL="0">
              <a:lnSpc>
                <a:spcPct val="120556"/>
              </a:lnSpc>
              <a:buNone/>
            </a:pPr>
            <a:r>
              <a:rPr lang="en-US" sz="2100" i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</a:t>
            </a:r>
            <a:pPr algn="l" indent="0" marL="0">
              <a:lnSpc>
                <a:spcPct val="120556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sees anything; caption-instance matching happens after.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4972943"/>
            <a:ext cx="8427894" cy="169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Subjective attributes are withheld from the VLM: size is threshold-classified and absolute position is rule-generated by partitioning the image into 25 regions. The VLM is asked only for colour, geometry and relative position, constrained by a JSON template each round.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6835973"/>
            <a:ext cx="8427894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natural-image equivalent, Objects365-Attr, produced 5.6M object-level attribute descriptions over 1.4M boxes.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01671" y="3109913"/>
            <a:ext cx="7438579" cy="6415088"/>
          </a:xfrm>
          <a:prstGeom prst="rect">
            <a:avLst/>
          </a:prstGeom>
          <a:solidFill>
            <a:srgbClr val="1A1714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11196" y="3119438"/>
            <a:ext cx="7419529" cy="212563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0" name="Text 8"/>
          <p:cNvSpPr/>
          <p:nvPr/>
        </p:nvSpPr>
        <p:spPr>
          <a:xfrm>
            <a:off x="10135046" y="3905994"/>
            <a:ext cx="14585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21"/>
              </a:lnSpc>
              <a:buNone/>
            </a:pPr>
            <a:r>
              <a:rPr lang="en-US" sz="435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163k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1765756" y="4010769"/>
            <a:ext cx="5643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drawn from eight aerial detection datasets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11196" y="5254600"/>
            <a:ext cx="7419529" cy="212563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5046" y="6041157"/>
            <a:ext cx="73915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21"/>
              </a:lnSpc>
              <a:buNone/>
            </a:pPr>
            <a:r>
              <a:rPr lang="en-US" sz="435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2M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1102801" y="5974482"/>
            <a:ext cx="597819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image-caption pairs — roughly 40× existing RSVG datasets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11196" y="7389763"/>
            <a:ext cx="7419529" cy="212571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35046" y="8176394"/>
            <a:ext cx="73915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21"/>
              </a:lnSpc>
              <a:buNone/>
            </a:pPr>
            <a:r>
              <a:rPr lang="en-US" sz="435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8×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11102801" y="8109719"/>
            <a:ext cx="597819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RTX 4090 (24 GB each), one machine, AWQ-quantized InternVL2.5-38B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76525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50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305175"/>
            <a:ext cx="15586829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053"/>
              </a:lnSpc>
              <a:buNone/>
            </a:pPr>
            <a:r>
              <a:rPr lang="en-US" sz="8850" b="1" spc="-177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Frame counts don't scale with human effort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047750" y="6036171"/>
            <a:ext cx="9693021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26"/>
              </a:lnSpc>
              <a:buNone/>
            </a:pPr>
            <a:r>
              <a:rPr lang="en-US" sz="2850" dirty="0">
                <a:solidFill>
                  <a:srgbClr val="C4BCA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Volume plus precision demands makes manual video labeling slow and inconsistent — and incorrect tracking produces inconsistent labels directly.</a:t>
            </a:r>
            <a:endParaRPr lang="en-US" sz="2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264247"/>
            <a:ext cx="6868751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38"/>
              </a:lnSpc>
              <a:buNone/>
            </a:pPr>
            <a:r>
              <a:rPr lang="en-US" sz="39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Defense imagery is the hardest case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660106"/>
            <a:ext cx="8585019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UAV detection literature, dependence on high-quality annotation is described as a practical bottleneck: noisy labels and missing instances substantially degrade performance, especially for tiny or fast-moving aerial vehicles.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47750" y="6549033"/>
            <a:ext cx="8585019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Anti-UAV datasets report target sizes down to </a:t>
            </a:r>
            <a:pPr algn="l" indent="0" marL="0">
              <a:lnSpc>
                <a:spcPct val="117547"/>
              </a:lnSpc>
              <a:buNone/>
            </a:pPr>
            <a:r>
              <a:rPr lang="en-US" sz="2175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6×3 pixels </a:t>
            </a:r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smallest being a micro air vehicle captured from 150 metres. At that scale human annotation is itself a source of noise.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92320" y="1547813"/>
            <a:ext cx="7247855" cy="79771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8" name="Text 6"/>
          <p:cNvSpPr/>
          <p:nvPr/>
        </p:nvSpPr>
        <p:spPr>
          <a:xfrm>
            <a:off x="10392370" y="3710880"/>
            <a:ext cx="70925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9A4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COUNTER-FINDING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92370" y="4196655"/>
            <a:ext cx="6641188" cy="193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56"/>
              </a:lnSpc>
              <a:buNone/>
            </a:pPr>
            <a:r>
              <a:rPr lang="en-US" sz="270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 the synthetic UAV dataset UEMM-Air, generated labels were almost identical in position to manual ones — and had an advantage on small objects.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392370" y="6299002"/>
            <a:ext cx="6641188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objects recede, human annotators draw boxes that don't sit tightly on the edges, admitting extra foreground. "Human is the gold standard" is questionable for small targets.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818903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CAUTION · THE COMPUTE–LABOR TRADEOFF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2438028"/>
            <a:ext cx="11929872" cy="2305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95"/>
              </a:lnSpc>
              <a:buNone/>
            </a:pPr>
            <a:r>
              <a:rPr lang="en-US" sz="480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Propagation is not free. Eight times the compute reduced lost tracks but </a:t>
            </a:r>
            <a:pPr algn="l" indent="0" marL="0">
              <a:lnSpc>
                <a:spcPct val="81395"/>
              </a:lnSpc>
              <a:buNone/>
            </a:pPr>
            <a:r>
              <a:rPr lang="en-US" sz="4800" i="1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lowered </a:t>
            </a:r>
            <a:pPr algn="l" indent="0" marL="0">
              <a:lnSpc>
                <a:spcPct val="81395"/>
              </a:lnSpc>
              <a:buNone/>
            </a:pPr>
            <a:r>
              <a:rPr lang="en-US" sz="480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IoU.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5162922"/>
            <a:ext cx="11430000" cy="2152650"/>
          </a:xfrm>
          <a:prstGeom prst="rect">
            <a:avLst/>
          </a:prstGeom>
          <a:solidFill>
            <a:srgbClr val="3B352E"/>
          </a:solidFill>
          <a:ln w="9525">
            <a:solidFill>
              <a:srgbClr val="3B3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5172447"/>
            <a:ext cx="5700713" cy="2133600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6" name="Text 4"/>
          <p:cNvSpPr/>
          <p:nvPr/>
        </p:nvSpPr>
        <p:spPr>
          <a:xfrm>
            <a:off x="1400175" y="5496297"/>
            <a:ext cx="55164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9A93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A · 260 MIN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00175" y="5939210"/>
            <a:ext cx="551640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6F3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0.396 IoU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00175" y="6663110"/>
            <a:ext cx="55164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3,746 lost tracks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767513" y="5172447"/>
            <a:ext cx="5700713" cy="2133600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10" name="Text 8"/>
          <p:cNvSpPr/>
          <p:nvPr/>
        </p:nvSpPr>
        <p:spPr>
          <a:xfrm>
            <a:off x="7110413" y="5496297"/>
            <a:ext cx="55164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9A93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B · 2,110 MIN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110413" y="5939210"/>
            <a:ext cx="551640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6F3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0.323 IoU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110413" y="6663110"/>
            <a:ext cx="55164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1,389 lost tracks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7696572"/>
            <a:ext cx="127147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authors frame it the same way: a tradeoff between computational and manual effort. Its value is accelerating human annotation, not creating accuracy.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METRIC WARNING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604963"/>
            <a:ext cx="1122779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31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Report HOTA — MOTA hides exactly the failure automation produces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281363"/>
            <a:ext cx="16192500" cy="6243638"/>
          </a:xfrm>
          <a:prstGeom prst="rect">
            <a:avLst/>
          </a:prstGeom>
          <a:solidFill>
            <a:srgbClr val="DDD6C8"/>
          </a:solidFill>
          <a:ln w="9525">
            <a:solidFill>
              <a:srgbClr val="DDD6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275" y="3290888"/>
            <a:ext cx="5384750" cy="6224588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3671888"/>
            <a:ext cx="521075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MOTA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81125" y="4510088"/>
            <a:ext cx="4879162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Combines false positives, misses and identity switches into one score — but is dominated by detection precision and recall. Near-perfect recall yields high MOTA even when identity switches are frequent.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451550" y="3290888"/>
            <a:ext cx="5384825" cy="6224588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0" name="Text 8"/>
          <p:cNvSpPr/>
          <p:nvPr/>
        </p:nvSpPr>
        <p:spPr>
          <a:xfrm>
            <a:off x="6775400" y="3671888"/>
            <a:ext cx="521083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IDF1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775400" y="4510088"/>
            <a:ext cx="4879239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 each object is correctly identified over its lifetime. Low IDF1 means frequent switches — the decay indicator for track-derived labels.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845900" y="3290888"/>
            <a:ext cx="5384750" cy="62245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9750" y="3671888"/>
            <a:ext cx="521075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E0A88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HOTA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169750" y="4510088"/>
            <a:ext cx="4879162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Separates detection accuracy from association accuracy and takes the geometric mean, weighting identity consistency equally with recall. The primary metric.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efficiency, as reported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57250" y="1643063"/>
            <a:ext cx="18230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row against its own baseline — different schedules and baselines mean rows are not directly comparable.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57250" y="2790825"/>
            <a:ext cx="16573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43150"/>
            <a:ext cx="34888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636740" y="2343150"/>
            <a:ext cx="53665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105951" y="2343150"/>
            <a:ext cx="74151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REPORTED RESULT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57250" y="3965674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009900"/>
            <a:ext cx="3488824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AWAL + ODA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36740" y="3009900"/>
            <a:ext cx="5366587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weighted active learning + orthogonal augmentation, MS-COCO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05951" y="3009900"/>
            <a:ext cx="7415194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35.10 mAP with 10% of labels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43.30 mAP on full COCO plus unlabeled data. Active learning alone +1.3%, ODA a further +1.2%.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7250" y="5454923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165699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Teacher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6740" y="4165699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set progressively augmented by active sampling each round; Faster R-CNN teacher–student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05951" y="4165699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AutoNorm combines difficulty, information and diversity to beat Unbiased Teacher; gains most pronounced on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and medium objects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7250" y="6944171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654948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Unbiased Teacher v2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36740" y="5654948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Pseudo-label selection from teacher–student relative uncertainty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05951" y="5654948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Regression-branch improvement; consistent gains on VOC, COCO-standard and COCO-additional for anchor-free and anchor-based alike.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7250" y="8433420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7144196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SSOD-AT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636740" y="7144196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Remote sensing; RoI comparison for high-confidence pseudo-labels + top-K uncertainty + diversity trimming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05951" y="7144196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to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1%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prior best on DOTA and DIOR — modest, but aerial-specific.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0600" y="8633445"/>
            <a:ext cx="3488824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Lower-Biased Teacher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636740" y="8633445"/>
            <a:ext cx="5366587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Evolving the pseudo-label generator by mutual learning instead of freezing it, COCO-standard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05951" y="8633445"/>
            <a:ext cx="7415194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19.1 AP at 0.5% labels (UBT 17.1); 32.1 AP at 10% (UBT 31.5).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Gain largest in the lowest-label regime.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METRIC WARNING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604963"/>
            <a:ext cx="1122779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31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Report HOTA — MOTA hides exactly the failure automation produces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281363"/>
            <a:ext cx="16192500" cy="6243638"/>
          </a:xfrm>
          <a:prstGeom prst="rect">
            <a:avLst/>
          </a:prstGeom>
          <a:solidFill>
            <a:srgbClr val="DDD6C8"/>
          </a:solidFill>
          <a:ln w="9525">
            <a:solidFill>
              <a:srgbClr val="DDD6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275" y="3290888"/>
            <a:ext cx="5384750" cy="6224588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3671888"/>
            <a:ext cx="521075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MOTA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81125" y="4510088"/>
            <a:ext cx="4879162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Combines false positives, misses and identity switches into one score — but is dominated by detection precision and recall. Near-perfect recall yields high MOTA even when identity switches are frequent.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451550" y="3290888"/>
            <a:ext cx="5384825" cy="6224588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0" name="Text 8"/>
          <p:cNvSpPr/>
          <p:nvPr/>
        </p:nvSpPr>
        <p:spPr>
          <a:xfrm>
            <a:off x="6775400" y="3671888"/>
            <a:ext cx="521083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IDF1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775400" y="4510088"/>
            <a:ext cx="4879239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 each object is correctly identified over its lifetime. Low IDF1 means frequent switches — the decay indicator for track-derived labels.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845900" y="3290888"/>
            <a:ext cx="5384750" cy="62245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9750" y="3671888"/>
            <a:ext cx="521075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E0A88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HOTA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169750" y="4510088"/>
            <a:ext cx="4879162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Separates detection accuracy from association accuracy and takes the geometric mean, weighting identity consistency equally with recall. The primary metric.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76525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50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305175"/>
            <a:ext cx="15586829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053"/>
              </a:lnSpc>
              <a:buNone/>
            </a:pPr>
            <a:r>
              <a:rPr lang="en-US" sz="8850" b="1" spc="-177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Where to spend the label budget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047750" y="6036171"/>
            <a:ext cx="9693021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26"/>
              </a:lnSpc>
              <a:buNone/>
            </a:pPr>
            <a:r>
              <a:rPr lang="en-US" sz="2850" dirty="0">
                <a:solidFill>
                  <a:srgbClr val="C4BCA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most measurable branch: papers report directly comparable numbers of the form "what performance at what fraction of labels".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Label efficiency, as reported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57250" y="1643063"/>
            <a:ext cx="18230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row against its own baseline — different schedules and baselines mean rows are not directly comparable.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857250" y="2790825"/>
            <a:ext cx="16573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43150"/>
            <a:ext cx="34888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636740" y="2343150"/>
            <a:ext cx="53665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105951" y="2343150"/>
            <a:ext cx="74151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REPORTED RESULT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57250" y="3965674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009900"/>
            <a:ext cx="3488824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AWAL + ODA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36740" y="3009900"/>
            <a:ext cx="5366587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weighted active learning + orthogonal augmentation, MS-COCO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05951" y="3009900"/>
            <a:ext cx="7415194" cy="81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35.10 mAP with 10% of labels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43.30 mAP on full COCO plus unlabeled data. Active learning alone +1.3%, ODA a further +1.2%.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7250" y="5454923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165699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Teacher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6740" y="4165699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set progressively augmented by active sampling each round; Faster R-CNN teacher–student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05951" y="4165699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AutoNorm combines difficulty, information and diversity to beat Unbiased Teacher; gains most pronounced on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and medium objects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7250" y="6944171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654948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Unbiased Teacher v2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36740" y="5654948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Pseudo-label selection from teacher–student relative uncertainty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05951" y="5654948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Regression-branch improvement; consistent gains on VOC, COCO-standard and COCO-additional for anchor-free and anchor-based alike.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7250" y="8433420"/>
            <a:ext cx="16573500" cy="9525"/>
          </a:xfrm>
          <a:prstGeom prst="rect">
            <a:avLst/>
          </a:prstGeom>
          <a:solidFill>
            <a:srgbClr val="DDD6C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7144196"/>
            <a:ext cx="348882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SSOD-AT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636740" y="7144196"/>
            <a:ext cx="5366587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Remote sensing; RoI comparison for high-confidence pseudo-labels + top-K uncertainty + diversity trimming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05951" y="7144196"/>
            <a:ext cx="7415194" cy="114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to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1% </a:t>
            </a:r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prior best on DOTA and DIOR — modest, but aerial-specific.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0600" y="8633445"/>
            <a:ext cx="3488824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Lower-Biased Teacher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636740" y="8633445"/>
            <a:ext cx="5366587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Evolving the pseudo-label generator by mutual learning instead of freezing it, COCO-standard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05951" y="8633445"/>
            <a:ext cx="7415194" cy="7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19.1 AP at 0.5% labels (UBT 17.1); 32.1 AP at 10% (UBT 31.5). </a:t>
            </a:r>
            <a:pPr algn="l" indent="0" marL="0">
              <a:buNone/>
            </a:pPr>
            <a:r>
              <a:rPr lang="en-US" sz="18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Gain largest in the lowest-label regime.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INDUSTRY DATA — VENDOR SOURCED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228752"/>
            <a:ext cx="726501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31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Why active learning has to be in the loop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4752752"/>
            <a:ext cx="7995761" cy="129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known trap: STAC's static annotating strategy fixes the pseudo-labels, which limits final performance. The common answer is to evolve the teacher via EMA.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47750" y="6221834"/>
            <a:ext cx="7995761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selection, criterion design decides: after top-K uncertainty, a diversity criterion over object-level prototypes strips redundancy. Uncertainty alone makes you ask a human about the same hard scene a hundred times.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477375" y="3001938"/>
            <a:ext cx="7762875" cy="4135487"/>
          </a:xfrm>
          <a:prstGeom prst="rect">
            <a:avLst/>
          </a:prstGeom>
          <a:solidFill>
            <a:srgbClr val="1A1714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6900" y="3011463"/>
            <a:ext cx="7743825" cy="1365796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3389561"/>
            <a:ext cx="11735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1250960" y="3335313"/>
            <a:ext cx="580597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37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teams say most of their annotated data never makes it into production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86900" y="4386783"/>
            <a:ext cx="7743825" cy="1365796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4764881"/>
            <a:ext cx="20116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100k×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1982450" y="4710633"/>
            <a:ext cx="505253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37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claimed annotation-cost reduction at near-human accuracy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86900" y="5762104"/>
            <a:ext cx="7743825" cy="1365796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6140202"/>
            <a:ext cx="11735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1250960" y="6085954"/>
            <a:ext cx="580597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37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claimed speed-up from VLM-powered "agentic labeling"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477375" y="7385075"/>
            <a:ext cx="79957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Vendor claims, not peer-reviewed. Economic motivation — not a technical acceptance criterion.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76525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50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305175"/>
            <a:ext cx="16678275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053"/>
              </a:lnSpc>
              <a:buNone/>
            </a:pPr>
            <a:r>
              <a:rPr lang="en-US" sz="8850" b="1" spc="-177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What saturates the pipeline is data flow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047750" y="6036171"/>
            <a:ext cx="10065830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26"/>
              </a:lnSpc>
              <a:buNone/>
            </a:pPr>
            <a:r>
              <a:rPr lang="en-US" sz="2850" dirty="0">
                <a:solidFill>
                  <a:srgbClr val="C4BCA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Automatic labeling is an inference workload. Most speed gains come from keeping the decode–preprocess–infer chain uninterrupted on the GPU.</a:t>
            </a:r>
            <a:endParaRPr lang="en-US" sz="2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70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four-layer stack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047750" y="1771650"/>
            <a:ext cx="161925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143125"/>
            <a:ext cx="16192500" cy="7381875"/>
          </a:xfrm>
          <a:prstGeom prst="rect">
            <a:avLst/>
          </a:prstGeom>
          <a:solidFill>
            <a:srgbClr val="DDD6C8"/>
          </a:solidFill>
          <a:ln w="9525">
            <a:solidFill>
              <a:srgbClr val="DDD6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6" name="Text 4"/>
          <p:cNvSpPr/>
          <p:nvPr/>
        </p:nvSpPr>
        <p:spPr>
          <a:xfrm>
            <a:off x="1343025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 · LOADING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2905125"/>
            <a:ext cx="3811191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DALI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43025" y="3511823"/>
            <a:ext cx="3568660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classic path does read, decode, resize, tensorise and copy on the CPU. DALI runs the whole sequence on the GPU in parallel with model execution — data stays on the GPU from preprocessing through inference.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103019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0" name="Text 8"/>
          <p:cNvSpPr/>
          <p:nvPr/>
        </p:nvSpPr>
        <p:spPr>
          <a:xfrm>
            <a:off x="5388769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 · INFERENCE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88769" y="2905125"/>
            <a:ext cx="3811191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TensorRT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388769" y="3511823"/>
            <a:ext cx="356866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Optimizer and runtime allowing low-precision calibration for latency and throughput. Version 11.0 introduced native multi-device inference over NCCL — how you split a large label engine across GPUs.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148763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9434513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3 · VIDEO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34513" y="2905125"/>
            <a:ext cx="3811191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DeepStream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434513" y="3511823"/>
            <a:ext cx="356866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streaming pipelines with 40+ hardware-accelerated plug-ins covering pre/post processing, inference, multi-camera tracking and message brokers. Tracking lives inside the pipeline.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194506" y="2152650"/>
            <a:ext cx="4036219" cy="736282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3480256" y="2495550"/>
            <a:ext cx="3811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4 · SERVING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480256" y="2905125"/>
            <a:ext cx="3811191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Triton or TensorRT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480256" y="3511823"/>
            <a:ext cx="356866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NVIDIA's own tradeoff: TensorRT for highest throughput or tight resources, Triton for flexibility at some performance cost. Triton also runs several models concurrently on one GPU.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70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Measured gains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93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different papers, different models and hardware — read each against its own baseline.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2471738"/>
            <a:ext cx="16192500" cy="7053263"/>
          </a:xfrm>
          <a:prstGeom prst="rect">
            <a:avLst/>
          </a:prstGeom>
          <a:solidFill>
            <a:srgbClr val="3B352E"/>
          </a:solidFill>
          <a:ln w="9525">
            <a:solidFill>
              <a:srgbClr val="3B3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2481263"/>
            <a:ext cx="8081962" cy="3512344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6" name="Text 4"/>
          <p:cNvSpPr/>
          <p:nvPr/>
        </p:nvSpPr>
        <p:spPr>
          <a:xfrm>
            <a:off x="1419225" y="2862263"/>
            <a:ext cx="809386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68"/>
              </a:lnSpc>
              <a:buNone/>
            </a:pPr>
            <a:r>
              <a:rPr lang="en-US" sz="57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22×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419225" y="3776662"/>
            <a:ext cx="757880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TensorRT: ResNet-50 at 5,066 images/sec (B=384), a 22.03× speedup over CPU. ResNet-18 at 8,837 images/sec (B=512), 13.19×. FP16 stays around 3.7–3.8×.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8763" y="2481263"/>
            <a:ext cx="8081962" cy="3512344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9" name="Text 7"/>
          <p:cNvSpPr/>
          <p:nvPr/>
        </p:nvSpPr>
        <p:spPr>
          <a:xfrm>
            <a:off x="9510713" y="2862263"/>
            <a:ext cx="809386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68"/>
              </a:lnSpc>
              <a:buNone/>
            </a:pPr>
            <a:r>
              <a:rPr lang="en-US" sz="57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B≈32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9510713" y="3776662"/>
            <a:ext cx="757880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Throughput rises steeply from batch 1 to 32 — underutilised execution becoming effective parallelism. Beyond moderate batches it plateaus as compute or memory bandwidth saturates.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57275" y="6003131"/>
            <a:ext cx="8081962" cy="3512344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6384131"/>
            <a:ext cx="809386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68"/>
              </a:lnSpc>
              <a:buNone/>
            </a:pPr>
            <a:r>
              <a:rPr lang="en-US" sz="57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110→350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1419225" y="7298531"/>
            <a:ext cx="757880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FPS in one DeepStream detection pipeline, from pipeline-level work with </a:t>
            </a:r>
            <a:pPr algn="l" indent="0" marL="0">
              <a:lnSpc>
                <a:spcPct val="115714"/>
              </a:lnSpc>
              <a:buNone/>
            </a:pPr>
            <a:r>
              <a:rPr lang="en-US" sz="2025" b="1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model changes at all </a:t>
            </a:r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batched inference, end-to-end GPU decoding, batch-level concurrency.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8763" y="6003131"/>
            <a:ext cx="8081962" cy="3512344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15" name="Text 13"/>
          <p:cNvSpPr/>
          <p:nvPr/>
        </p:nvSpPr>
        <p:spPr>
          <a:xfrm>
            <a:off x="9510713" y="6384131"/>
            <a:ext cx="809386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68"/>
              </a:lnSpc>
              <a:buNone/>
            </a:pPr>
            <a:r>
              <a:rPr lang="en-US" sz="57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8×4090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9510713" y="7298531"/>
            <a:ext cx="757880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OS-W2S label engine on a single machine, 24 GB per card. The model was chosen to fit: AWQ-quantized InternVL2.5-38B.</a:t>
            </a:r>
            <a:endParaRPr lang="en-US" sz="20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134567"/>
            <a:ext cx="178117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CAPACITY PLANNING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777505"/>
            <a:ext cx="10567327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443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Defend the hardware requirement with arithmetic, not a guess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476676"/>
            <a:ext cx="16192500" cy="161538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4991026"/>
            <a:ext cx="165544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33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streams = (batch_size × 1000 / latency_ms) / target_fps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6473056"/>
            <a:ext cx="8044815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NVIDIA's own formula for how many camera streams a GPU supports. The reference configuration is an FP16 RT-DETR with a ResNet-50 backbone running through DeepStream on TensorRT.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429750" y="6473056"/>
            <a:ext cx="8044815" cy="1717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7"/>
              </a:lnSpc>
              <a:buNone/>
            </a:pPr>
            <a:r>
              <a:rPr lang="en-US" sz="21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relation applies to offline labeling: substitute "hours of video per hours of wall clock" for target FPS, and the hardware ask becomes a calculation rather than an estimate.</a:t>
            </a:r>
            <a:endParaRPr lang="en-US" sz="21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14438"/>
            <a:ext cx="16192500" cy="9525"/>
          </a:xfrm>
          <a:prstGeom prst="rect">
            <a:avLst/>
          </a:prstGeom>
          <a:solidFill>
            <a:srgbClr val="C9C2B4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762000"/>
            <a:ext cx="16678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QUALITY ASSURANCE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47813"/>
            <a:ext cx="1199084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31"/>
              </a:lnSpc>
              <a:buNone/>
            </a:pPr>
            <a:r>
              <a:rPr lang="en-US" sz="45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Auditing automatic labels automatically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500313"/>
            <a:ext cx="8240953" cy="1659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22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model errors become entangled with noisy supervision, attributing failure to the model alone gets hard. The answer is not a new architecture or loss but data-centric methods that </a:t>
            </a:r>
            <a:pPr algn="l" indent="0" marL="0">
              <a:lnSpc>
                <a:spcPct val="118222"/>
              </a:lnSpc>
              <a:buNone/>
            </a:pPr>
            <a:r>
              <a:rPr lang="en-US" sz="210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detect, verify and correct annotation noise at scale </a:t>
            </a:r>
            <a:pPr algn="l" indent="0" marL="0">
              <a:lnSpc>
                <a:spcPct val="118222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4331196"/>
            <a:ext cx="8240953" cy="1659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22"/>
              </a:lnSpc>
              <a:buNone/>
            </a:pPr>
            <a:r>
              <a:rPr lang="en-US" sz="210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classes named in the literature: interpretable debugging that localises problematic annotation slices, label-alignment pipelines resolving conflicts, label pruning, and VLM-based error discovery such as ClipGrader.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6200180"/>
            <a:ext cx="8000926" cy="170780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6200180"/>
            <a:ext cx="76200" cy="1707803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6466880"/>
            <a:ext cx="8088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PROPOSED METRIC 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9700" y="6895505"/>
            <a:ext cx="7573822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A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 mislabeling rate · box drift rate · box redundancy rate · image content utilisation rate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620176" y="2500313"/>
            <a:ext cx="7620000" cy="7024688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01176" y="4018806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9A4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CLEANEST PROTOCOL IN THE SURVEY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01176" y="4523631"/>
            <a:ext cx="7063740" cy="1825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07"/>
              </a:lnSpc>
              <a:buNone/>
            </a:pPr>
            <a:r>
              <a:rPr lang="en-US" sz="255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IndoorCrowd labeled all 9,913 frames human-in-the-loop — foundation models propose, humans verify, SAM 2.1 fills gaps, polygons refine boundaries.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001176" y="6520607"/>
            <a:ext cx="706374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18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critical detail is the control set: 20 frames per video, 620 in total, labeled entirely from scratch with no priors, prioritising temporal diversity. A small unbiased golden set is enough to rank candidate generators against each other.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86025"/>
            <a:ext cx="163830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666750"/>
            <a:ext cx="10873070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reference architecture the survey points to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508879" y="1009650"/>
            <a:ext cx="600142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SYNTHESIS — INFERENCE, NOT QUOTATION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2800350"/>
            <a:ext cx="16383000" cy="6819900"/>
          </a:xfrm>
          <a:prstGeom prst="rect">
            <a:avLst/>
          </a:prstGeom>
          <a:solidFill>
            <a:srgbClr val="DDD6C8"/>
          </a:solidFill>
          <a:ln w="9525">
            <a:solidFill>
              <a:srgbClr val="DDD6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2809875"/>
            <a:ext cx="5448300" cy="339566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3095625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8725" y="3467100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Frame selection, not labeling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228725" y="3965004"/>
            <a:ext cx="506234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Prioritise temporal diversity, exclude near-duplicates. IndoorCrowd applies it directly; active learning says the same from the budget side.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19850" y="2809875"/>
            <a:ext cx="5448300" cy="339566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686550" y="3095625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86550" y="3467100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Cold start: open-set detector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6686550" y="3965004"/>
            <a:ext cx="506234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Text-prompted detector chained to SAM 2. Published thresholds for a single class: box 0.30, text 0.25. Compare prompt variants on samples first.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877675" y="2809875"/>
            <a:ext cx="5448300" cy="339566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12144375" y="3095625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44375" y="3467100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Temporal consistency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2144375" y="3965004"/>
            <a:ext cx="506234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BoT-SORT family with CMC for aerial and panning cameras; OC-SORT where non-linear motion dominates. Two-stage association is a baseline requirement.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2025" y="6215063"/>
            <a:ext cx="5448300" cy="339566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1228725" y="6500813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28725" y="6872288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Approval at tracklet level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1228725" y="7370192"/>
            <a:ext cx="5062347" cy="113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 tracklets, not frames. The largest reported reductions — 96%, 78% — come precisely from this granularity.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419850" y="6215063"/>
            <a:ext cx="5448300" cy="339566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6686550" y="6500813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86550" y="6872288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Self-training loop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6686550" y="7370192"/>
            <a:ext cx="506234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tracklets feed teacher–student; the teacher evolves via EMA rather than freezing. Stand this up early — gains peak at low label counts.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877675" y="6215063"/>
            <a:ext cx="5448300" cy="3395663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7" name="Text 25"/>
          <p:cNvSpPr/>
          <p:nvPr/>
        </p:nvSpPr>
        <p:spPr>
          <a:xfrm>
            <a:off x="12144375" y="6500813"/>
            <a:ext cx="5406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44375" y="6872288"/>
            <a:ext cx="540639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02"/>
              </a:lnSpc>
              <a:buNone/>
            </a:pPr>
            <a:r>
              <a:rPr lang="en-US" sz="2475" b="1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Automatic label auditing</a:t>
            </a:r>
            <a:endParaRPr lang="en-US" sz="2475" dirty="0"/>
          </a:p>
        </p:txBody>
      </p:sp>
      <p:sp>
        <p:nvSpPr>
          <p:cNvPr id="29" name="Text 27"/>
          <p:cNvSpPr/>
          <p:nvPr/>
        </p:nvSpPr>
        <p:spPr>
          <a:xfrm>
            <a:off x="12144375" y="7370192"/>
            <a:ext cx="506234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C4BC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mislabeling, drift and redundancy every round; rank generators against a fixed golden set. Without it, automation produces invisible label debt.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546226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QUESTION THAT GETS ASKED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165351"/>
            <a:ext cx="13009055" cy="1791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671"/>
              </a:lnSpc>
              <a:buNone/>
            </a:pPr>
            <a:r>
              <a:rPr lang="en-US" sz="585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"Doesn't automatic labeling push the model to learn its own mistakes?"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047750" y="5452095"/>
            <a:ext cx="16192500" cy="2288679"/>
          </a:xfrm>
          <a:prstGeom prst="rect">
            <a:avLst/>
          </a:prstGeom>
          <a:solidFill>
            <a:srgbClr val="3B352E"/>
          </a:solidFill>
          <a:ln w="9525">
            <a:solidFill>
              <a:srgbClr val="3B3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5461620"/>
            <a:ext cx="5384750" cy="2269629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6" name="Text 4"/>
          <p:cNvSpPr/>
          <p:nvPr/>
        </p:nvSpPr>
        <p:spPr>
          <a:xfrm>
            <a:off x="1381125" y="5785470"/>
            <a:ext cx="52107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81125" y="6247433"/>
            <a:ext cx="487916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F6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freeze pseudo-labels — a static strategy limits final performance.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51550" y="5461620"/>
            <a:ext cx="5384825" cy="2269629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9" name="Text 7"/>
          <p:cNvSpPr/>
          <p:nvPr/>
        </p:nvSpPr>
        <p:spPr>
          <a:xfrm>
            <a:off x="6775400" y="5785470"/>
            <a:ext cx="52108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775400" y="6247433"/>
            <a:ext cx="487923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F6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selection on uncertainty — teacher and student relative uncertainties.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845900" y="5461620"/>
            <a:ext cx="5384750" cy="2269629"/>
          </a:xfrm>
          <a:prstGeom prst="rect">
            <a:avLst/>
          </a:prstGeom>
          <a:solidFill>
            <a:srgbClr val="241F1B"/>
          </a:solidFill>
          <a:ln/>
        </p:spPr>
      </p:sp>
      <p:sp>
        <p:nvSpPr>
          <p:cNvPr id="12" name="Text 10"/>
          <p:cNvSpPr/>
          <p:nvPr/>
        </p:nvSpPr>
        <p:spPr>
          <a:xfrm>
            <a:off x="12169750" y="5785470"/>
            <a:ext cx="52107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169750" y="6247433"/>
            <a:ext cx="487916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F6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error detection inside the pipeline — detect, verify and correct at scale.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04850"/>
            <a:ext cx="1802130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Gaps and contradictions in the evidence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662113"/>
            <a:ext cx="163830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976438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85988"/>
            <a:ext cx="5699760" cy="391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Reduction figures aren't comparable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2653829"/>
            <a:ext cx="5337048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96%, 80%, 78% and 60% were measured on different tasks under different definitions. There is no shared metric for "annotation effort".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53200" y="1976438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8" name="Text 6"/>
          <p:cNvSpPr/>
          <p:nvPr/>
        </p:nvSpPr>
        <p:spPr>
          <a:xfrm>
            <a:off x="6553200" y="2185988"/>
            <a:ext cx="5699760" cy="391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Zero-shot is exposed to domain shift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200" y="2653829"/>
            <a:ext cx="5337048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aerial imagery YOLO-World reaches 1.3 AP50 with sentence prompts, Grounding DINO 5.4. After domain adaptation, GDINO detection AP50 rises from 7.7% to 17.8%.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53900" y="1976438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53900" y="2185988"/>
            <a:ext cx="5337048" cy="74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Tracker rankings depend on the detector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53900" y="3007370"/>
            <a:ext cx="5337048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 notes warn performance varies across detectors, and tuned configs differ by dataset — on SoccerNet even the recommended buffer ordering inverts.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5941219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6150769"/>
            <a:ext cx="5699760" cy="391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Defense-domain literature is thin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2500" y="6618610"/>
            <a:ext cx="5337048" cy="1870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Anti-UAV and infrared datasets are still manual: 5,828 boxes with LabelImg, trajectory-based annotation with repeated checks. </a:t>
            </a:r>
            <a:pPr algn="l" indent="0" marL="0">
              <a:lnSpc>
                <a:spcPct val="114866"/>
              </a:lnSpc>
              <a:buNone/>
            </a:pPr>
            <a:r>
              <a:rPr lang="en-US" sz="1950" b="1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gap is the opening for original contribution.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53200" y="5941219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6553200" y="6150769"/>
            <a:ext cx="5699760" cy="391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Propagation cost is rarely reported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53200" y="6618610"/>
            <a:ext cx="5337048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Almost no study reports how many GPU-hours buy how many human-hours. The 260- and 2,110-minute runs are the exception — and show non-proportional benefit.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153900" y="5941219"/>
            <a:ext cx="5181600" cy="38100"/>
          </a:xfrm>
          <a:prstGeom prst="rect">
            <a:avLst/>
          </a:prstGeom>
          <a:solidFill>
            <a:srgbClr val="A6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3900" y="6150769"/>
            <a:ext cx="5699760" cy="391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55"/>
              </a:lnSpc>
              <a:buNone/>
            </a:pPr>
            <a:r>
              <a:rPr lang="en-US" sz="2400" b="1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Limit of this review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53900" y="6618610"/>
            <a:ext cx="5337048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66"/>
              </a:lnSpc>
              <a:buNone/>
            </a:pPr>
            <a:r>
              <a:rPr lang="en-US" sz="1950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 to openly accessible sources; two Springer items were reachable only at abstract level. Vendor performance claims could not be independently verified.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81163"/>
            <a:ext cx="16383000" cy="28575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704850"/>
            <a:ext cx="209902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A171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Sources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334750" y="1047750"/>
            <a:ext cx="6600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list with links in the written report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52500" y="2014538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SURVEYS &amp; PIPELINES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481263"/>
            <a:ext cx="3894868" cy="40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Zhang et al., auto-labeling survey (arXiv 2109.03784) · Data-centric survey of annotation errors, AI Review 2026 · Wei et al., OS-W2S / MI-OAD (2505.03334) · Objects365-Attr (2409.06300) · Gao et al., MLLM annotation evaluation, APWeb-WAIM 2025 · Industrial auto bounding boxes (2206.00280) · IndoorCrowd (2604.02032)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153025" y="2014538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 &amp; TRACKING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53025" y="2481263"/>
            <a:ext cx="3894868" cy="3729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Accelerated Video Annotation, SSD+RE3 (2302.09590) · Propagating Semantic Labels in Video (2310.00783) · Scene-text KCF annotation (2103.15488) · ARGUSTRACK (2606.20687) · Cao et al., OC-SORT (2203.14360) · PD-SORT (2501.11288) · Li et al., MOT review, IET CV 2025 · Roboflow trackers v2.3.0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353550" y="2014538"/>
            <a:ext cx="389486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 MODELS &amp; SSOD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53550" y="2776538"/>
            <a:ext cx="3894868" cy="3729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Zero-shot vs supervised bird segmentation, GDINO 1.5 + SAM 2.1 (2603.00184) · F-ViTA, Grounded-SAM description (2504.02801) · Mi et al., Active Teacher, CVPR 2022 · Liu et al., Unbiased Teacher v2, CVPR 2022 · AWAL + ODA (PMC11945993) · SSOD-AT (2402.18958) · Lower-Biased Teacher (2409.19703)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554075" y="2014538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647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GPU, TOOLING, DEFENSE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54075" y="2481263"/>
            <a:ext cx="3894868" cy="5574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31"/>
              </a:lnSpc>
              <a:buNone/>
            </a:pPr>
            <a:r>
              <a:rPr lang="en-US" sz="1875" dirty="0">
                <a:solidFill>
                  <a:srgbClr val="3B3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DEEP-GAP GPU parallelism (2604.14552) · NVIDIA DeepStream SDK, TensorRT 11.0 multi-device, RT-DETR stream capacity docs · DALI + TensorRT YOLO pipeline · DeepStream at 1840 FPS, Bridger · Voxel51 annotation platform (vendor) · AutoDistill and Grounded SAM 2 guides · Anti-UAV review (2507.10006) · UAVDB (2409.06490) · UEMM-Air (2406.06230) · Label-IRST (2603.16257) · SIRST-UAVB (2412.16986)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379687"/>
            <a:ext cx="178117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E0A8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THROUGH-LINE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041675"/>
            <a:ext cx="16467421" cy="295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464"/>
              </a:lnSpc>
              <a:buNone/>
            </a:pPr>
            <a:r>
              <a:rPr lang="en-US" sz="6600" b="1" spc="-99" kern="0" dirty="0">
                <a:solidFill>
                  <a:srgbClr val="F6F3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No surveyed system is fully autonomous. The win comes from changing what the human is asked to do.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6415757"/>
            <a:ext cx="9889236" cy="152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0"/>
              </a:lnSpc>
              <a:buNone/>
            </a:pPr>
            <a:r>
              <a:rPr lang="en-US" sz="2700" dirty="0">
                <a:solidFill>
                  <a:srgbClr val="C4BCA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Approve tracklets instead of drawing frames, spend the label budget where uncertainty is highest, and measure the labels you generate as rigorously as the model you train on them.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2026-09-10T19:37:53Z</dcterms:created>
  <dcterms:modified xsi:type="dcterms:W3CDTF">2026-09-10T19:37:53Z</dcterms:modified>
</cp:coreProperties>
</file>